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Manrope"/>
      <p:regular r:id="rId37"/>
      <p:bold r:id="rId38"/>
    </p:embeddedFont>
    <p:embeddedFont>
      <p:font typeface="PT Sans"/>
      <p:regular r:id="rId39"/>
      <p:bold r:id="rId40"/>
      <p:italic r:id="rId41"/>
      <p:boldItalic r:id="rId42"/>
    </p:embeddedFon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5172C6-03CD-43BA-9FFE-E8174195E7CC}">
  <a:tblStyle styleId="{1E5172C6-03CD-43BA-9FFE-E8174195E7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.fntdata"/><Relationship Id="rId20" Type="http://schemas.openxmlformats.org/officeDocument/2006/relationships/slide" Target="slides/slide15.xml"/><Relationship Id="rId42" Type="http://schemas.openxmlformats.org/officeDocument/2006/relationships/font" Target="fonts/PTSans-boldItalic.fntdata"/><Relationship Id="rId41" Type="http://schemas.openxmlformats.org/officeDocument/2006/relationships/font" Target="fonts/PTSans-italic.fntdata"/><Relationship Id="rId22" Type="http://schemas.openxmlformats.org/officeDocument/2006/relationships/slide" Target="slides/slide17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6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9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8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italic.fntdata"/><Relationship Id="rId12" Type="http://schemas.openxmlformats.org/officeDocument/2006/relationships/slide" Target="slides/slide7.xml"/><Relationship Id="rId34" Type="http://schemas.openxmlformats.org/officeDocument/2006/relationships/font" Target="fonts/Raleway-bold.fntdata"/><Relationship Id="rId15" Type="http://schemas.openxmlformats.org/officeDocument/2006/relationships/slide" Target="slides/slide10.xml"/><Relationship Id="rId37" Type="http://schemas.openxmlformats.org/officeDocument/2006/relationships/font" Target="fonts/Manrope-regular.fntdata"/><Relationship Id="rId14" Type="http://schemas.openxmlformats.org/officeDocument/2006/relationships/slide" Target="slides/slide9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39" Type="http://schemas.openxmlformats.org/officeDocument/2006/relationships/font" Target="fonts/PTSans-regular.fntdata"/><Relationship Id="rId16" Type="http://schemas.openxmlformats.org/officeDocument/2006/relationships/slide" Target="slides/slide11.xml"/><Relationship Id="rId38" Type="http://schemas.openxmlformats.org/officeDocument/2006/relationships/font" Target="fonts/Manrope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Engin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Engin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Engin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William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William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William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William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William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0aacee983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50aacee98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Egok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0aacee983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0aacee983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Egok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Egok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K-means: basic, fast, expects spherical clusters.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0aacee983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50aacee98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K-means: basic, fast, expects spherical clusters.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GMM: handles flexible shapes, prefers ellipsoidal clusters.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0aacee983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50aacee98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GMM: handles flexible shapes, prefers ellipsoidal clusters.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DBSCAN: captures non-linear structures like spirals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0aacee98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50aacee98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0aacee98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0aacee98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0aacee983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0aacee983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0aacee983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50aacee98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0aacee983_7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50aacee983_7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715100" y="873175"/>
            <a:ext cx="4052100" cy="25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entury Gothic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715100" y="3518100"/>
            <a:ext cx="24744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723050" y="175275"/>
            <a:ext cx="1105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1"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720000" y="17877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  <a:defRPr sz="3000" u="sng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57" name="Google Shape;57;p14"/>
          <p:cNvSpPr txBox="1"/>
          <p:nvPr>
            <p:ph idx="3" type="title"/>
          </p:nvPr>
        </p:nvSpPr>
        <p:spPr>
          <a:xfrm>
            <a:off x="720000" y="256071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  <a:defRPr sz="3000" u="sng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4"/>
          <p:cNvSpPr txBox="1"/>
          <p:nvPr>
            <p:ph idx="4" type="title"/>
          </p:nvPr>
        </p:nvSpPr>
        <p:spPr>
          <a:xfrm>
            <a:off x="720000" y="33336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  <a:defRPr sz="3000" u="sng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59" name="Google Shape;59;p14"/>
          <p:cNvSpPr txBox="1"/>
          <p:nvPr>
            <p:ph idx="5" type="title"/>
          </p:nvPr>
        </p:nvSpPr>
        <p:spPr>
          <a:xfrm>
            <a:off x="4272550" y="256071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  <a:defRPr sz="3000" u="sng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60" name="Google Shape;60;p14"/>
          <p:cNvSpPr txBox="1"/>
          <p:nvPr>
            <p:ph idx="6" type="title"/>
          </p:nvPr>
        </p:nvSpPr>
        <p:spPr>
          <a:xfrm>
            <a:off x="4272550" y="17877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  <a:defRPr sz="3000" u="sng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14"/>
          <p:cNvSpPr txBox="1"/>
          <p:nvPr>
            <p:ph idx="7" type="title"/>
          </p:nvPr>
        </p:nvSpPr>
        <p:spPr>
          <a:xfrm>
            <a:off x="4272550" y="333366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  <a:defRPr sz="3000" u="sng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1454700" y="1863975"/>
            <a:ext cx="2305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8" type="subTitle"/>
          </p:nvPr>
        </p:nvSpPr>
        <p:spPr>
          <a:xfrm>
            <a:off x="1454700" y="3409875"/>
            <a:ext cx="2305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9" type="subTitle"/>
          </p:nvPr>
        </p:nvSpPr>
        <p:spPr>
          <a:xfrm>
            <a:off x="5007250" y="1863975"/>
            <a:ext cx="2305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3" type="subTitle"/>
          </p:nvPr>
        </p:nvSpPr>
        <p:spPr>
          <a:xfrm>
            <a:off x="1454700" y="2636975"/>
            <a:ext cx="2305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4" type="subTitle"/>
          </p:nvPr>
        </p:nvSpPr>
        <p:spPr>
          <a:xfrm>
            <a:off x="5007250" y="2636975"/>
            <a:ext cx="2305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5" type="subTitle"/>
          </p:nvPr>
        </p:nvSpPr>
        <p:spPr>
          <a:xfrm>
            <a:off x="5007250" y="3409925"/>
            <a:ext cx="2305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4892088" y="2345551"/>
            <a:ext cx="25677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2" type="subTitle"/>
          </p:nvPr>
        </p:nvSpPr>
        <p:spPr>
          <a:xfrm>
            <a:off x="1684212" y="2345550"/>
            <a:ext cx="25056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3" type="subTitle"/>
          </p:nvPr>
        </p:nvSpPr>
        <p:spPr>
          <a:xfrm>
            <a:off x="1684212" y="1915047"/>
            <a:ext cx="2505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92087" y="1915050"/>
            <a:ext cx="2567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 and three columns 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764250" y="2275028"/>
            <a:ext cx="2331600" cy="16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2" type="subTitle"/>
          </p:nvPr>
        </p:nvSpPr>
        <p:spPr>
          <a:xfrm>
            <a:off x="3406187" y="2275025"/>
            <a:ext cx="2331600" cy="16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3" type="subTitle"/>
          </p:nvPr>
        </p:nvSpPr>
        <p:spPr>
          <a:xfrm>
            <a:off x="6048126" y="2275025"/>
            <a:ext cx="2331600" cy="16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4" type="subTitle"/>
          </p:nvPr>
        </p:nvSpPr>
        <p:spPr>
          <a:xfrm>
            <a:off x="764258" y="1893150"/>
            <a:ext cx="23316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5" type="subTitle"/>
          </p:nvPr>
        </p:nvSpPr>
        <p:spPr>
          <a:xfrm>
            <a:off x="3406203" y="1893151"/>
            <a:ext cx="23316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6" type="subTitle"/>
          </p:nvPr>
        </p:nvSpPr>
        <p:spPr>
          <a:xfrm>
            <a:off x="6048142" y="1893150"/>
            <a:ext cx="23316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 and four 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1306486" y="1458875"/>
            <a:ext cx="2967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2" type="subTitle"/>
          </p:nvPr>
        </p:nvSpPr>
        <p:spPr>
          <a:xfrm>
            <a:off x="1306488" y="1736443"/>
            <a:ext cx="29670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3" type="subTitle"/>
          </p:nvPr>
        </p:nvSpPr>
        <p:spPr>
          <a:xfrm>
            <a:off x="4870514" y="1736443"/>
            <a:ext cx="29670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4" type="subTitle"/>
          </p:nvPr>
        </p:nvSpPr>
        <p:spPr>
          <a:xfrm>
            <a:off x="1306488" y="3484768"/>
            <a:ext cx="29670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5" type="subTitle"/>
          </p:nvPr>
        </p:nvSpPr>
        <p:spPr>
          <a:xfrm>
            <a:off x="4870514" y="3484768"/>
            <a:ext cx="29670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6" type="subTitle"/>
          </p:nvPr>
        </p:nvSpPr>
        <p:spPr>
          <a:xfrm>
            <a:off x="1306486" y="3207200"/>
            <a:ext cx="2967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7" type="subTitle"/>
          </p:nvPr>
        </p:nvSpPr>
        <p:spPr>
          <a:xfrm>
            <a:off x="4870511" y="1458875"/>
            <a:ext cx="2967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8" type="subTitle"/>
          </p:nvPr>
        </p:nvSpPr>
        <p:spPr>
          <a:xfrm>
            <a:off x="4870511" y="3207200"/>
            <a:ext cx="2967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  <a:defRPr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 and six 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949358" y="1786362"/>
            <a:ext cx="20202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2" type="subTitle"/>
          </p:nvPr>
        </p:nvSpPr>
        <p:spPr>
          <a:xfrm>
            <a:off x="3557852" y="1786373"/>
            <a:ext cx="20283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3" type="subTitle"/>
          </p:nvPr>
        </p:nvSpPr>
        <p:spPr>
          <a:xfrm>
            <a:off x="949358" y="3516655"/>
            <a:ext cx="21279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4" type="subTitle"/>
          </p:nvPr>
        </p:nvSpPr>
        <p:spPr>
          <a:xfrm>
            <a:off x="3557852" y="3516655"/>
            <a:ext cx="2110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6166342" y="1786373"/>
            <a:ext cx="20283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6166342" y="3516655"/>
            <a:ext cx="20283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7" type="subTitle"/>
          </p:nvPr>
        </p:nvSpPr>
        <p:spPr>
          <a:xfrm>
            <a:off x="953346" y="1488675"/>
            <a:ext cx="2020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8" type="subTitle"/>
          </p:nvPr>
        </p:nvSpPr>
        <p:spPr>
          <a:xfrm>
            <a:off x="3561836" y="1488675"/>
            <a:ext cx="2020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9" type="subTitle"/>
          </p:nvPr>
        </p:nvSpPr>
        <p:spPr>
          <a:xfrm>
            <a:off x="6170323" y="1488675"/>
            <a:ext cx="2020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13" type="subTitle"/>
          </p:nvPr>
        </p:nvSpPr>
        <p:spPr>
          <a:xfrm>
            <a:off x="953341" y="3215755"/>
            <a:ext cx="2127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14" type="subTitle"/>
          </p:nvPr>
        </p:nvSpPr>
        <p:spPr>
          <a:xfrm>
            <a:off x="3561835" y="3215755"/>
            <a:ext cx="2110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15" type="subTitle"/>
          </p:nvPr>
        </p:nvSpPr>
        <p:spPr>
          <a:xfrm>
            <a:off x="6170323" y="3215755"/>
            <a:ext cx="2020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b="1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"/>
              <a:buNone/>
              <a:defRPr sz="24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Numbers and 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798388" y="1292550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4800" u="sng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1" type="subTitle"/>
          </p:nvPr>
        </p:nvSpPr>
        <p:spPr>
          <a:xfrm>
            <a:off x="798400" y="1975274"/>
            <a:ext cx="34926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2" type="title"/>
          </p:nvPr>
        </p:nvSpPr>
        <p:spPr>
          <a:xfrm>
            <a:off x="2825700" y="3039639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4800" u="sng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9"/>
          <p:cNvSpPr txBox="1"/>
          <p:nvPr>
            <p:ph idx="3" type="subTitle"/>
          </p:nvPr>
        </p:nvSpPr>
        <p:spPr>
          <a:xfrm>
            <a:off x="2825700" y="3722350"/>
            <a:ext cx="34926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4" type="title"/>
          </p:nvPr>
        </p:nvSpPr>
        <p:spPr>
          <a:xfrm>
            <a:off x="4853013" y="1292550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4800" u="sng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5" type="subTitle"/>
          </p:nvPr>
        </p:nvSpPr>
        <p:spPr>
          <a:xfrm>
            <a:off x="4853025" y="1975274"/>
            <a:ext cx="34926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ctrTitle"/>
          </p:nvPr>
        </p:nvSpPr>
        <p:spPr>
          <a:xfrm>
            <a:off x="715100" y="873175"/>
            <a:ext cx="5883820" cy="25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entury Gothic"/>
              <a:buNone/>
            </a:pPr>
            <a:r>
              <a:rPr lang="en"/>
              <a:t>Data Mining and Machine Learning</a:t>
            </a:r>
            <a:br>
              <a:rPr lang="en"/>
            </a:br>
            <a:r>
              <a:rPr lang="en" sz="3200" u="sng">
                <a:solidFill>
                  <a:schemeClr val="dk2"/>
                </a:solidFill>
              </a:rPr>
              <a:t>Project 1: Clustering</a:t>
            </a:r>
            <a:endParaRPr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b="1" lang="en" sz="3200"/>
              <a:t>Why these data sets ?</a:t>
            </a:r>
            <a:endParaRPr b="1" sz="3200"/>
          </a:p>
        </p:txBody>
      </p:sp>
      <p:sp>
        <p:nvSpPr>
          <p:cNvPr id="123" name="Google Shape;123;p21"/>
          <p:cNvSpPr txBox="1"/>
          <p:nvPr/>
        </p:nvSpPr>
        <p:spPr>
          <a:xfrm>
            <a:off x="2077289" y="4263173"/>
            <a:ext cx="1958509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Interesting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504" y="1541523"/>
            <a:ext cx="2190080" cy="2524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4702" y="1541523"/>
            <a:ext cx="2253454" cy="2524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5171256" y="4263173"/>
            <a:ext cx="1620345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Different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Which algorithms? Which implementations?</a:t>
            </a:r>
            <a:endParaRPr b="1"/>
          </a:p>
        </p:txBody>
      </p:sp>
      <p:sp>
        <p:nvSpPr>
          <p:cNvPr id="132" name="Google Shape;132;p22"/>
          <p:cNvSpPr txBox="1"/>
          <p:nvPr>
            <p:ph idx="1" type="subTitle"/>
          </p:nvPr>
        </p:nvSpPr>
        <p:spPr>
          <a:xfrm>
            <a:off x="673650" y="222875"/>
            <a:ext cx="7796700" cy="48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476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" sz="1200">
                <a:latin typeface="Raleway"/>
                <a:ea typeface="Raleway"/>
                <a:cs typeface="Raleway"/>
                <a:sym typeface="Raleway"/>
              </a:rPr>
              <a:t>KMeans (Lloyd/Forgy)</a:t>
            </a:r>
            <a:endParaRPr b="0"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Pros:  Simple, fast, easy to use.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Cons: Only finds round-shaped clusters. Needs k given.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Time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complexity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: fast for small and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medium data, but if k is big or data big, it can slow down.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476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" sz="1200">
                <a:latin typeface="Raleway"/>
                <a:ea typeface="Raleway"/>
                <a:cs typeface="Raleway"/>
                <a:sym typeface="Raleway"/>
              </a:rPr>
              <a:t>EM (Gaussian Mixture Modeling)</a:t>
            </a:r>
            <a:endParaRPr b="0"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Pros: Works well with overlapping clusters.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Cons: Also needs k. Slower than KMeans.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Time complexity: slower than KMeans because it does more calculations. Needs more time when clusters overlap or when dimensions are high.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476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" sz="1200">
                <a:latin typeface="Raleway"/>
                <a:ea typeface="Raleway"/>
                <a:cs typeface="Raleway"/>
                <a:sym typeface="Raleway"/>
              </a:rPr>
              <a:t>DBSCAN</a:t>
            </a:r>
            <a:endParaRPr b="0"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Pros: Finds clusters of any shape. No need to give k. Can also detect noise.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Cons: Sensitive to parameters (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epsilon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and minPoints). Hard with different densities.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14312" lvl="1" marL="55721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Time complexity: Fast if data is small and parameters are good. But can be slow if there are a lot of points because it checks neighbors for each point. 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720000" y="3719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0" lang="en"/>
              <a:t>Aggregation Dataset </a:t>
            </a:r>
            <a:r>
              <a:rPr b="1" lang="en"/>
              <a:t>True Labels</a:t>
            </a:r>
            <a:endParaRPr b="1"/>
          </a:p>
        </p:txBody>
      </p:sp>
      <p:pic>
        <p:nvPicPr>
          <p:cNvPr id="138" name="Google Shape;1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90" y="1444879"/>
            <a:ext cx="2731728" cy="314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 title="tr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1875" y="1120775"/>
            <a:ext cx="4465951" cy="347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546425" y="643150"/>
            <a:ext cx="252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KMeans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lang="en"/>
              <a:t>C</a:t>
            </a:r>
            <a:r>
              <a:rPr b="0" lang="en"/>
              <a:t>lustering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0" lang="en"/>
              <a:t>results</a:t>
            </a:r>
            <a:endParaRPr b="0"/>
          </a:p>
        </p:txBody>
      </p:sp>
      <p:pic>
        <p:nvPicPr>
          <p:cNvPr id="145" name="Google Shape;145;p24" title="k_mea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9725" y="336300"/>
            <a:ext cx="5748275" cy="447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type="title"/>
          </p:nvPr>
        </p:nvSpPr>
        <p:spPr>
          <a:xfrm>
            <a:off x="546425" y="2285400"/>
            <a:ext cx="252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720000" y="445025"/>
            <a:ext cx="217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EM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lang="en"/>
              <a:t>C</a:t>
            </a:r>
            <a:r>
              <a:rPr b="0" lang="en"/>
              <a:t>lustering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0" lang="en"/>
              <a:t>results</a:t>
            </a:r>
            <a:endParaRPr b="0"/>
          </a:p>
        </p:txBody>
      </p:sp>
      <p:pic>
        <p:nvPicPr>
          <p:cNvPr id="152" name="Google Shape;152;p25" title="gm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600" y="152400"/>
            <a:ext cx="5942999" cy="462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Hybrid Clustering</a:t>
            </a:r>
            <a:endParaRPr b="0"/>
          </a:p>
        </p:txBody>
      </p:sp>
      <p:sp>
        <p:nvSpPr>
          <p:cNvPr id="158" name="Google Shape;158;p26"/>
          <p:cNvSpPr txBox="1"/>
          <p:nvPr/>
        </p:nvSpPr>
        <p:spPr>
          <a:xfrm>
            <a:off x="720000" y="2290231"/>
            <a:ext cx="6143645" cy="131783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combination of </a:t>
            </a:r>
            <a:r>
              <a:rPr b="1" i="0" lang="e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KMeans</a:t>
            </a:r>
            <a:r>
              <a:rPr b="0" i="0" lang="e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and </a:t>
            </a:r>
            <a:r>
              <a:rPr b="1" i="0" lang="e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EM</a:t>
            </a:r>
            <a:r>
              <a:rPr b="0" i="0" lang="e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clustering.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We use KMeans to obtain </a:t>
            </a:r>
            <a:r>
              <a:rPr b="1" i="0" lang="e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starting points</a:t>
            </a:r>
            <a:r>
              <a:rPr b="0" i="0" lang="en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We then use those points as initial parameters to cluster the dataset with EM clustering.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Combined</a:t>
            </a:r>
            <a:r>
              <a:rPr lang="en"/>
              <a:t> </a:t>
            </a:r>
            <a:r>
              <a:rPr b="0" lang="en"/>
              <a:t>method</a:t>
            </a:r>
            <a:r>
              <a:rPr lang="en"/>
              <a:t> </a:t>
            </a:r>
            <a:r>
              <a:rPr b="0" lang="en"/>
              <a:t>clustering results</a:t>
            </a:r>
            <a:endParaRPr b="0"/>
          </a:p>
        </p:txBody>
      </p:sp>
      <p:pic>
        <p:nvPicPr>
          <p:cNvPr id="164" name="Google Shape;164;p27" title="gmm_from_k_mea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313" y="1111650"/>
            <a:ext cx="491268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/>
          <p:nvPr/>
        </p:nvSpPr>
        <p:spPr>
          <a:xfrm>
            <a:off x="660075" y="1478875"/>
            <a:ext cx="24648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K-Means finds cluster centers by minimizing within-cluster variance, so its centroids are often close to where Gaussians would naturally center.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K-Means runs faster than GMM so generating initial means from K-means can reduce the number of </a:t>
            </a:r>
            <a:r>
              <a:rPr lang="en" sz="1100">
                <a:solidFill>
                  <a:schemeClr val="dk1"/>
                </a:solidFill>
              </a:rPr>
              <a:t>iterations EM needs to converge, reducing overall runtime.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DBSCAN</a:t>
            </a:r>
            <a:endParaRPr b="0"/>
          </a:p>
        </p:txBody>
      </p:sp>
      <p:pic>
        <p:nvPicPr>
          <p:cNvPr id="171" name="Google Shape;171;p28" title="k_dis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850" y="953475"/>
            <a:ext cx="6983385" cy="41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720000" y="445025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DBSCAN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9" title="dbsc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DBSCAN</a:t>
            </a:r>
            <a:r>
              <a:rPr lang="en"/>
              <a:t> </a:t>
            </a:r>
            <a:r>
              <a:rPr b="0" lang="en"/>
              <a:t>clustering results (ARI maximized)</a:t>
            </a:r>
            <a:endParaRPr b="0"/>
          </a:p>
        </p:txBody>
      </p:sp>
      <p:sp>
        <p:nvSpPr>
          <p:cNvPr id="183" name="Google Shape;183;p30"/>
          <p:cNvSpPr txBox="1"/>
          <p:nvPr>
            <p:ph idx="1" type="subTitle"/>
          </p:nvPr>
        </p:nvSpPr>
        <p:spPr>
          <a:xfrm>
            <a:off x="6153650" y="1739350"/>
            <a:ext cx="2092500" cy="12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ARI: 0.9917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Eps = 1.39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Min samples = 7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4" name="Google Shape;184;p30" title="DBSC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950" y="1017725"/>
            <a:ext cx="5449750" cy="40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720000" y="425975"/>
            <a:ext cx="760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00"/>
              <a:buFont typeface="Century Gothic"/>
              <a:buNone/>
            </a:pPr>
            <a:r>
              <a:rPr lang="en" sz="2800" u="none">
                <a:solidFill>
                  <a:schemeClr val="dk1"/>
                </a:solidFill>
              </a:rPr>
              <a:t>Most </a:t>
            </a:r>
            <a:r>
              <a:rPr b="1" lang="en" sz="2800" u="none">
                <a:solidFill>
                  <a:schemeClr val="dk1"/>
                </a:solidFill>
              </a:rPr>
              <a:t>suitable</a:t>
            </a:r>
            <a:r>
              <a:rPr lang="en" sz="2800" u="none">
                <a:solidFill>
                  <a:schemeClr val="dk1"/>
                </a:solidFill>
              </a:rPr>
              <a:t> algorithm for Aggregation? </a:t>
            </a:r>
            <a:endParaRPr sz="2800" u="none">
              <a:solidFill>
                <a:schemeClr val="dk1"/>
              </a:solidFill>
            </a:endParaRPr>
          </a:p>
        </p:txBody>
      </p:sp>
      <p:graphicFrame>
        <p:nvGraphicFramePr>
          <p:cNvPr id="190" name="Google Shape;190;p31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{1E5172C6-03CD-43BA-9FFE-E8174195E7CC}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ARI (Adjusted Rand Index)</a:t>
                      </a:r>
                      <a:br>
                        <a:rPr lang="en"/>
                      </a:b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K-means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0.704 (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Average of 6 runs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GMM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0.857 (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Average of 6 runs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DBSCAN (pen n paper)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DBSCAN (ARI optimized)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Century Gothic"/>
              <a:buNone/>
            </a:pPr>
            <a:r>
              <a:rPr b="0" lang="en"/>
              <a:t>Spiral Dataset </a:t>
            </a:r>
            <a:r>
              <a:rPr b="1" lang="en"/>
              <a:t>True Labels</a:t>
            </a:r>
            <a:endParaRPr b="1"/>
          </a:p>
        </p:txBody>
      </p:sp>
      <p:pic>
        <p:nvPicPr>
          <p:cNvPr id="196" name="Google Shape;19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4150" y="1428750"/>
            <a:ext cx="4427950" cy="33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925" y="1489675"/>
            <a:ext cx="3092225" cy="36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720000" y="181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KMeans</a:t>
            </a:r>
            <a:r>
              <a:rPr lang="en"/>
              <a:t> </a:t>
            </a:r>
            <a:r>
              <a:rPr b="0" lang="en"/>
              <a:t>clustering results</a:t>
            </a:r>
            <a:endParaRPr b="0"/>
          </a:p>
        </p:txBody>
      </p:sp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4525"/>
            <a:ext cx="5387125" cy="431565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3"/>
          <p:cNvSpPr txBox="1"/>
          <p:nvPr/>
        </p:nvSpPr>
        <p:spPr>
          <a:xfrm>
            <a:off x="5569700" y="754525"/>
            <a:ext cx="3000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Best ARI = 0.0865 </a:t>
            </a:r>
            <a:endParaRPr b="1" sz="17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750">
                <a:solidFill>
                  <a:srgbClr val="79818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750">
              <a:solidFill>
                <a:srgbClr val="79818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720000" y="181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KMeans</a:t>
            </a:r>
            <a:r>
              <a:rPr lang="en"/>
              <a:t> </a:t>
            </a:r>
            <a:r>
              <a:rPr b="0" lang="en"/>
              <a:t>clustering results</a:t>
            </a:r>
            <a:endParaRPr b="0"/>
          </a:p>
        </p:txBody>
      </p:sp>
      <p:sp>
        <p:nvSpPr>
          <p:cNvPr id="210" name="Google Shape;210;p34"/>
          <p:cNvSpPr txBox="1"/>
          <p:nvPr/>
        </p:nvSpPr>
        <p:spPr>
          <a:xfrm>
            <a:off x="5569700" y="754525"/>
            <a:ext cx="3000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Best ARI = 0.0865 </a:t>
            </a:r>
            <a:endParaRPr b="1" sz="17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750">
                <a:solidFill>
                  <a:srgbClr val="79818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750">
              <a:solidFill>
                <a:srgbClr val="79818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1" name="Google Shape;2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6925"/>
            <a:ext cx="5098177" cy="40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720000" y="219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GMM</a:t>
            </a:r>
            <a:r>
              <a:rPr lang="en"/>
              <a:t> </a:t>
            </a:r>
            <a:r>
              <a:rPr b="0" lang="en"/>
              <a:t>clustering results</a:t>
            </a:r>
            <a:endParaRPr b="0"/>
          </a:p>
        </p:txBody>
      </p:sp>
      <p:pic>
        <p:nvPicPr>
          <p:cNvPr id="217" name="Google Shape;2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5125"/>
            <a:ext cx="5213100" cy="41762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5"/>
          <p:cNvSpPr txBox="1"/>
          <p:nvPr/>
        </p:nvSpPr>
        <p:spPr>
          <a:xfrm>
            <a:off x="5424000" y="792125"/>
            <a:ext cx="3000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Best ARI = 0.0835 </a:t>
            </a:r>
            <a:endParaRPr b="1" sz="17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720000" y="219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GMM</a:t>
            </a:r>
            <a:r>
              <a:rPr lang="en"/>
              <a:t> </a:t>
            </a:r>
            <a:r>
              <a:rPr b="0" lang="en"/>
              <a:t>clustering results</a:t>
            </a:r>
            <a:endParaRPr b="0"/>
          </a:p>
        </p:txBody>
      </p:sp>
      <p:sp>
        <p:nvSpPr>
          <p:cNvPr id="224" name="Google Shape;224;p36"/>
          <p:cNvSpPr txBox="1"/>
          <p:nvPr/>
        </p:nvSpPr>
        <p:spPr>
          <a:xfrm>
            <a:off x="5424000" y="792125"/>
            <a:ext cx="3000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Best ARI = 0.0835 </a:t>
            </a:r>
            <a:endParaRPr b="1" sz="17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5" name="Google Shape;2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4525"/>
            <a:ext cx="5203650" cy="416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720000" y="2028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DBSCAN</a:t>
            </a:r>
            <a:r>
              <a:rPr lang="en"/>
              <a:t> </a:t>
            </a:r>
            <a:r>
              <a:rPr b="0" lang="en"/>
              <a:t>clustering results</a:t>
            </a:r>
            <a:endParaRPr b="0"/>
          </a:p>
        </p:txBody>
      </p:sp>
      <p:pic>
        <p:nvPicPr>
          <p:cNvPr id="231" name="Google Shape;23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5575"/>
            <a:ext cx="5586199" cy="447512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7"/>
          <p:cNvSpPr txBox="1"/>
          <p:nvPr/>
        </p:nvSpPr>
        <p:spPr>
          <a:xfrm>
            <a:off x="5738250" y="775575"/>
            <a:ext cx="3000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Best ARI = </a:t>
            </a:r>
            <a:r>
              <a:rPr b="1" lang="en" sz="1750">
                <a:solidFill>
                  <a:schemeClr val="dk1"/>
                </a:solidFill>
                <a:highlight>
                  <a:srgbClr val="F6B26B"/>
                </a:highlight>
                <a:latin typeface="Courier New"/>
                <a:ea typeface="Courier New"/>
                <a:cs typeface="Courier New"/>
                <a:sym typeface="Courier New"/>
              </a:rPr>
              <a:t>1.0000</a:t>
            </a:r>
            <a:r>
              <a:rPr b="1" lang="en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7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720000" y="445025"/>
            <a:ext cx="760624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00"/>
              <a:buFont typeface="Century Gothic"/>
              <a:buNone/>
            </a:pPr>
            <a:r>
              <a:rPr lang="en" sz="2800" u="none">
                <a:solidFill>
                  <a:schemeClr val="dk1"/>
                </a:solidFill>
              </a:rPr>
              <a:t>Most </a:t>
            </a:r>
            <a:r>
              <a:rPr b="1" lang="en" sz="2800" u="none">
                <a:solidFill>
                  <a:schemeClr val="dk1"/>
                </a:solidFill>
              </a:rPr>
              <a:t>suitable</a:t>
            </a:r>
            <a:r>
              <a:rPr lang="en" sz="2800" u="none">
                <a:solidFill>
                  <a:schemeClr val="dk1"/>
                </a:solidFill>
              </a:rPr>
              <a:t> algorithm for Spiral?</a:t>
            </a:r>
            <a:endParaRPr sz="2800" u="non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00"/>
              <a:buFont typeface="Century Gothic"/>
              <a:buNone/>
            </a:pPr>
            <a:r>
              <a:t/>
            </a:r>
            <a:endParaRPr sz="2800" u="none">
              <a:solidFill>
                <a:schemeClr val="dk1"/>
              </a:solidFill>
            </a:endParaRPr>
          </a:p>
        </p:txBody>
      </p:sp>
      <p:graphicFrame>
        <p:nvGraphicFramePr>
          <p:cNvPr id="238" name="Google Shape;238;p38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{1E5172C6-03CD-43BA-9FFE-E8174195E7CC}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K-means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GMM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4"/>
                          </a:highlight>
                        </a:rPr>
                        <a:t>DBSCAN</a:t>
                      </a:r>
                      <a:endParaRPr>
                        <a:highlight>
                          <a:schemeClr val="accent4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4"/>
                          </a:highlight>
                        </a:rPr>
                        <a:t>1</a:t>
                      </a:r>
                      <a:endParaRPr>
                        <a:highlight>
                          <a:schemeClr val="accent4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Quality Measures</a:t>
            </a:r>
            <a:endParaRPr b="0"/>
          </a:p>
        </p:txBody>
      </p:sp>
      <p:graphicFrame>
        <p:nvGraphicFramePr>
          <p:cNvPr id="244" name="Google Shape;244;p39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{1E5172C6-03CD-43BA-9FFE-E8174195E7CC}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Spiral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Silhouette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labels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4"/>
                          </a:highlight>
                        </a:rPr>
                        <a:t>0.0013</a:t>
                      </a:r>
                      <a:endParaRPr>
                        <a:highlight>
                          <a:schemeClr val="accent4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K-means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0.3695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GMM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DBSCAN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4"/>
                          </a:highlight>
                        </a:rPr>
                        <a:t>0.0013</a:t>
                      </a:r>
                      <a:endParaRPr>
                        <a:highlight>
                          <a:schemeClr val="accent4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4"/>
                          </a:highlight>
                        </a:rPr>
                        <a:t>1</a:t>
                      </a:r>
                      <a:endParaRPr>
                        <a:highlight>
                          <a:schemeClr val="accent4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</a:pPr>
            <a:r>
              <a:rPr b="1" lang="en"/>
              <a:t>Outlier Detection</a:t>
            </a:r>
            <a:endParaRPr b="0"/>
          </a:p>
        </p:txBody>
      </p:sp>
      <p:sp>
        <p:nvSpPr>
          <p:cNvPr id="250" name="Google Shape;250;p40"/>
          <p:cNvSpPr txBox="1"/>
          <p:nvPr/>
        </p:nvSpPr>
        <p:spPr>
          <a:xfrm>
            <a:off x="750225" y="1442950"/>
            <a:ext cx="76749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aggregation</a:t>
            </a:r>
            <a:endParaRPr b="1" sz="14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50"/>
              <a:buFont typeface="Century Gothic"/>
              <a:buChar char="●"/>
            </a:pPr>
            <a:r>
              <a:rPr b="1" lang="en" sz="14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Distance based</a:t>
            </a:r>
            <a:endParaRPr b="1" sz="14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50"/>
              <a:buFont typeface="Century Gothic"/>
              <a:buChar char="○"/>
            </a:pPr>
            <a:r>
              <a:rPr b="1" lang="en" sz="14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 - outliers</a:t>
            </a:r>
            <a:endParaRPr b="1" sz="14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50"/>
              <a:buFont typeface="Century Gothic"/>
              <a:buChar char="○"/>
            </a:pPr>
            <a:r>
              <a:rPr b="1" lang="en" sz="14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KNN</a:t>
            </a:r>
            <a:endParaRPr b="1" sz="14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50"/>
              <a:buFont typeface="Century Gothic"/>
              <a:buChar char="●"/>
            </a:pPr>
            <a:r>
              <a:rPr b="1" lang="en" sz="14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Density based</a:t>
            </a:r>
            <a:endParaRPr b="1" sz="14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50"/>
              <a:buFont typeface="Century Gothic"/>
              <a:buChar char="○"/>
            </a:pPr>
            <a:r>
              <a:rPr b="1" lang="en" sz="14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Local outlier Factor (LOF)</a:t>
            </a:r>
            <a:endParaRPr b="1" sz="14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idx="2" type="subTitle"/>
          </p:nvPr>
        </p:nvSpPr>
        <p:spPr>
          <a:xfrm>
            <a:off x="1306488" y="1736443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1"/>
          <p:cNvSpPr txBox="1"/>
          <p:nvPr>
            <p:ph idx="3" type="subTitle"/>
          </p:nvPr>
        </p:nvSpPr>
        <p:spPr>
          <a:xfrm>
            <a:off x="4870514" y="1736443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1"/>
          <p:cNvSpPr txBox="1"/>
          <p:nvPr>
            <p:ph idx="4" type="subTitle"/>
          </p:nvPr>
        </p:nvSpPr>
        <p:spPr>
          <a:xfrm>
            <a:off x="1306488" y="3484768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1"/>
          <p:cNvSpPr txBox="1"/>
          <p:nvPr>
            <p:ph idx="5" type="subTitle"/>
          </p:nvPr>
        </p:nvSpPr>
        <p:spPr>
          <a:xfrm>
            <a:off x="4870514" y="3484768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1"/>
          <p:cNvSpPr txBox="1"/>
          <p:nvPr>
            <p:ph idx="6" type="subTitle"/>
          </p:nvPr>
        </p:nvSpPr>
        <p:spPr>
          <a:xfrm>
            <a:off x="1306486" y="3207200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1"/>
          <p:cNvSpPr txBox="1"/>
          <p:nvPr>
            <p:ph idx="7" type="subTitle"/>
          </p:nvPr>
        </p:nvSpPr>
        <p:spPr>
          <a:xfrm>
            <a:off x="4870511" y="1458875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1"/>
          <p:cNvSpPr txBox="1"/>
          <p:nvPr>
            <p:ph idx="8" type="subTitle"/>
          </p:nvPr>
        </p:nvSpPr>
        <p:spPr>
          <a:xfrm>
            <a:off x="4870511" y="3207200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065" y="0"/>
            <a:ext cx="667987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idx="1" type="subTitle"/>
          </p:nvPr>
        </p:nvSpPr>
        <p:spPr>
          <a:xfrm>
            <a:off x="1306486" y="1458875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2"/>
          <p:cNvSpPr txBox="1"/>
          <p:nvPr>
            <p:ph idx="2" type="subTitle"/>
          </p:nvPr>
        </p:nvSpPr>
        <p:spPr>
          <a:xfrm>
            <a:off x="1306488" y="1736443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2"/>
          <p:cNvSpPr txBox="1"/>
          <p:nvPr>
            <p:ph idx="3" type="subTitle"/>
          </p:nvPr>
        </p:nvSpPr>
        <p:spPr>
          <a:xfrm>
            <a:off x="4870514" y="1736443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2"/>
          <p:cNvSpPr txBox="1"/>
          <p:nvPr>
            <p:ph idx="4" type="subTitle"/>
          </p:nvPr>
        </p:nvSpPr>
        <p:spPr>
          <a:xfrm>
            <a:off x="1306488" y="3484768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2"/>
          <p:cNvSpPr txBox="1"/>
          <p:nvPr>
            <p:ph idx="5" type="subTitle"/>
          </p:nvPr>
        </p:nvSpPr>
        <p:spPr>
          <a:xfrm>
            <a:off x="4870514" y="3484768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2"/>
          <p:cNvSpPr txBox="1"/>
          <p:nvPr>
            <p:ph idx="6" type="subTitle"/>
          </p:nvPr>
        </p:nvSpPr>
        <p:spPr>
          <a:xfrm>
            <a:off x="1306486" y="3207200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2"/>
          <p:cNvSpPr txBox="1"/>
          <p:nvPr>
            <p:ph idx="7" type="subTitle"/>
          </p:nvPr>
        </p:nvSpPr>
        <p:spPr>
          <a:xfrm>
            <a:off x="4870511" y="1458875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2"/>
          <p:cNvSpPr txBox="1"/>
          <p:nvPr>
            <p:ph idx="8" type="subTitle"/>
          </p:nvPr>
        </p:nvSpPr>
        <p:spPr>
          <a:xfrm>
            <a:off x="4870511" y="3207200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700" y="0"/>
            <a:ext cx="61385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idx="1" type="subTitle"/>
          </p:nvPr>
        </p:nvSpPr>
        <p:spPr>
          <a:xfrm>
            <a:off x="1306486" y="1458875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3"/>
          <p:cNvSpPr txBox="1"/>
          <p:nvPr>
            <p:ph idx="2" type="subTitle"/>
          </p:nvPr>
        </p:nvSpPr>
        <p:spPr>
          <a:xfrm>
            <a:off x="1306488" y="1736443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3"/>
          <p:cNvSpPr txBox="1"/>
          <p:nvPr>
            <p:ph idx="3" type="subTitle"/>
          </p:nvPr>
        </p:nvSpPr>
        <p:spPr>
          <a:xfrm>
            <a:off x="4870514" y="1736443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3"/>
          <p:cNvSpPr txBox="1"/>
          <p:nvPr>
            <p:ph idx="4" type="subTitle"/>
          </p:nvPr>
        </p:nvSpPr>
        <p:spPr>
          <a:xfrm>
            <a:off x="1306488" y="3484768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3"/>
          <p:cNvSpPr txBox="1"/>
          <p:nvPr>
            <p:ph idx="5" type="subTitle"/>
          </p:nvPr>
        </p:nvSpPr>
        <p:spPr>
          <a:xfrm>
            <a:off x="4870514" y="3484768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3"/>
          <p:cNvSpPr txBox="1"/>
          <p:nvPr>
            <p:ph idx="6" type="subTitle"/>
          </p:nvPr>
        </p:nvSpPr>
        <p:spPr>
          <a:xfrm>
            <a:off x="1306486" y="3207200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3"/>
          <p:cNvSpPr txBox="1"/>
          <p:nvPr>
            <p:ph idx="7" type="subTitle"/>
          </p:nvPr>
        </p:nvSpPr>
        <p:spPr>
          <a:xfrm>
            <a:off x="4870511" y="1458875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4870511" y="3207200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508" y="0"/>
            <a:ext cx="616698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idx="1" type="subTitle"/>
          </p:nvPr>
        </p:nvSpPr>
        <p:spPr>
          <a:xfrm>
            <a:off x="1306486" y="1458875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4"/>
          <p:cNvSpPr txBox="1"/>
          <p:nvPr>
            <p:ph idx="2" type="subTitle"/>
          </p:nvPr>
        </p:nvSpPr>
        <p:spPr>
          <a:xfrm>
            <a:off x="1306488" y="1736443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4"/>
          <p:cNvSpPr txBox="1"/>
          <p:nvPr>
            <p:ph idx="3" type="subTitle"/>
          </p:nvPr>
        </p:nvSpPr>
        <p:spPr>
          <a:xfrm>
            <a:off x="4870514" y="1736443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4"/>
          <p:cNvSpPr txBox="1"/>
          <p:nvPr>
            <p:ph idx="5" type="subTitle"/>
          </p:nvPr>
        </p:nvSpPr>
        <p:spPr>
          <a:xfrm>
            <a:off x="4870514" y="3484768"/>
            <a:ext cx="29670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4"/>
          <p:cNvSpPr txBox="1"/>
          <p:nvPr>
            <p:ph idx="6" type="subTitle"/>
          </p:nvPr>
        </p:nvSpPr>
        <p:spPr>
          <a:xfrm>
            <a:off x="1306486" y="3207200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4"/>
          <p:cNvSpPr txBox="1"/>
          <p:nvPr>
            <p:ph idx="7" type="subTitle"/>
          </p:nvPr>
        </p:nvSpPr>
        <p:spPr>
          <a:xfrm>
            <a:off x="4870511" y="1458875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4"/>
          <p:cNvSpPr txBox="1"/>
          <p:nvPr>
            <p:ph idx="8" type="subTitle"/>
          </p:nvPr>
        </p:nvSpPr>
        <p:spPr>
          <a:xfrm>
            <a:off x="4870511" y="3207200"/>
            <a:ext cx="29670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4249274" cy="357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3500" y="1202408"/>
            <a:ext cx="4870501" cy="3941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/>
          <p:nvPr/>
        </p:nvSpPr>
        <p:spPr>
          <a:xfrm>
            <a:off x="1414426" y="1955453"/>
            <a:ext cx="3513600" cy="1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5"/>
          <p:cNvSpPr txBox="1"/>
          <p:nvPr/>
        </p:nvSpPr>
        <p:spPr>
          <a:xfrm>
            <a:off x="1414426" y="996928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</a:pPr>
            <a:r>
              <a:rPr b="1" lang="en" sz="5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Wrap up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 txBox="1"/>
          <p:nvPr/>
        </p:nvSpPr>
        <p:spPr>
          <a:xfrm>
            <a:off x="1414426" y="1955453"/>
            <a:ext cx="3513600" cy="1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Do you have any questions?</a:t>
            </a:r>
            <a:endParaRPr/>
          </a:p>
        </p:txBody>
      </p:sp>
      <p:sp>
        <p:nvSpPr>
          <p:cNvPr id="313" name="Google Shape;313;p46"/>
          <p:cNvSpPr txBox="1"/>
          <p:nvPr/>
        </p:nvSpPr>
        <p:spPr>
          <a:xfrm>
            <a:off x="1414426" y="996928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</a:pPr>
            <a:r>
              <a:rPr b="1" i="0" lang="en" sz="5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